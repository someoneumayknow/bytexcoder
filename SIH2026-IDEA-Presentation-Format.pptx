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5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–SIH26047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Patient Case-Taking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/MedTech/Healthcare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BYTEXCODER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829495"/>
            <a:ext cx="12191999" cy="583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500" b="1" cap="all" dirty="0"/>
              <a:t>PATIENT CASE TAKING SOFTWARE (MEDIKIOSK AI)</a:t>
            </a:r>
          </a:p>
          <a:p>
            <a:endParaRPr lang="en-IN" b="1" cap="all" dirty="0"/>
          </a:p>
          <a:p>
            <a:r>
              <a:rPr lang="en-IN" sz="2100" b="1" cap="all" dirty="0"/>
              <a:t>How it addresses the problem:</a:t>
            </a:r>
          </a:p>
          <a:p>
            <a:pPr lvl="0"/>
            <a:r>
              <a:rPr lang="en-IN" b="1" cap="all" dirty="0"/>
              <a:t>  </a:t>
            </a:r>
            <a:r>
              <a:rPr lang="en-IN" b="1" dirty="0"/>
              <a:t>Eliminates OPD Congestion:</a:t>
            </a:r>
            <a:r>
              <a:rPr lang="en-IN" dirty="0"/>
              <a:t> Automates intake before the patient enters the cabin, saving 3–5 minutes of typing per consultation.</a:t>
            </a:r>
          </a:p>
          <a:p>
            <a:pPr lvl="0"/>
            <a:br>
              <a:rPr lang="en-IN" dirty="0"/>
            </a:br>
            <a:r>
              <a:rPr lang="en-IN" dirty="0"/>
              <a:t> </a:t>
            </a:r>
            <a:r>
              <a:rPr lang="en-IN" b="1" dirty="0"/>
              <a:t>Overcomes Literacy Barriers:</a:t>
            </a:r>
            <a:r>
              <a:rPr lang="en-IN" dirty="0"/>
              <a:t> Spoken vernacular prompts enable unassisted patient self-registration in crowded public hospitals.</a:t>
            </a:r>
          </a:p>
          <a:p>
            <a:pPr lvl="0"/>
            <a:br>
              <a:rPr lang="en-IN" dirty="0"/>
            </a:br>
            <a:r>
              <a:rPr lang="en-IN" dirty="0"/>
              <a:t>  </a:t>
            </a:r>
            <a:r>
              <a:rPr lang="en-IN" b="1" dirty="0"/>
              <a:t>Prevents Diagnostic Oversights:</a:t>
            </a:r>
            <a:r>
              <a:rPr lang="en-IN" dirty="0"/>
              <a:t> Auto-highlights abnormal biomarkers (HbA1c, glucose) and triggers instant alerts for chest pain or breathlessness.</a:t>
            </a:r>
          </a:p>
          <a:p>
            <a:pPr lvl="0"/>
            <a:endParaRPr lang="en-IN" dirty="0"/>
          </a:p>
          <a:p>
            <a:r>
              <a:rPr lang="en-IN" sz="2100" b="1" cap="all" dirty="0"/>
              <a:t>Innovation and uniqueness of the solution</a:t>
            </a:r>
          </a:p>
          <a:p>
            <a:br>
              <a:rPr lang="en-IN" dirty="0"/>
            </a:br>
            <a:r>
              <a:rPr lang="en-IN" dirty="0"/>
              <a:t>  </a:t>
            </a:r>
            <a:r>
              <a:rPr lang="en-IN" b="1" dirty="0"/>
              <a:t>Dual Allopathy &amp; AYUSH Streams</a:t>
            </a:r>
          </a:p>
          <a:p>
            <a:endParaRPr lang="en-IN" b="1" dirty="0"/>
          </a:p>
          <a:p>
            <a:r>
              <a:rPr lang="en-IN" b="1" dirty="0"/>
              <a:t>  Zero Recurring API Costs</a:t>
            </a:r>
            <a:endParaRPr lang="en-IN" dirty="0"/>
          </a:p>
          <a:p>
            <a:br>
              <a:rPr lang="en-IN" dirty="0"/>
            </a:br>
            <a:endParaRPr lang="en-IN" b="1" cap="all" dirty="0"/>
          </a:p>
          <a:p>
            <a:br>
              <a:rPr lang="en-IN" dirty="0"/>
            </a:br>
            <a:endParaRPr lang="en-IN" b="1" cap="al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430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BYTEXCODER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532668"/>
            <a:ext cx="10178005" cy="6878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br>
              <a:rPr lang="en-IN" b="1" cap="all" dirty="0"/>
            </a:br>
            <a:r>
              <a:rPr lang="en-IN" sz="2500" b="1" cap="all" dirty="0"/>
              <a:t>Technologies to be used (programming languages, frameworks, hardware)</a:t>
            </a:r>
            <a:endParaRPr lang="en-IN" b="1" cap="all" dirty="0"/>
          </a:p>
          <a:p>
            <a:pPr lvl="0"/>
            <a:r>
              <a:rPr lang="en-IN" b="1" dirty="0"/>
              <a:t>Frontend &amp; UI Stack:</a:t>
            </a:r>
            <a:r>
              <a:rPr lang="en-IN" dirty="0"/>
              <a:t> HTML5, Modern Vanilla JavaScript (ES6+), and Tailwind CSS for a lightweight, touch-optimized kiosk interface.</a:t>
            </a:r>
          </a:p>
          <a:p>
            <a:pPr lvl="0"/>
            <a:r>
              <a:rPr lang="en-IN" b="1" dirty="0"/>
              <a:t>Voice &amp; Speech Processing:</a:t>
            </a:r>
            <a:r>
              <a:rPr lang="en-IN" dirty="0"/>
              <a:t> Native W3C Web Speech API (</a:t>
            </a:r>
            <a:r>
              <a:rPr lang="en-IN" dirty="0" err="1"/>
              <a:t>SpeechRecognition</a:t>
            </a:r>
            <a:r>
              <a:rPr lang="en-IN" dirty="0"/>
              <a:t> for STT and </a:t>
            </a:r>
            <a:r>
              <a:rPr lang="en-IN" dirty="0" err="1"/>
              <a:t>SpeechSynthesis</a:t>
            </a:r>
            <a:r>
              <a:rPr lang="en-IN" dirty="0"/>
              <a:t> for TTS)</a:t>
            </a:r>
          </a:p>
          <a:p>
            <a:pPr lvl="0"/>
            <a:r>
              <a:rPr lang="en-IN" dirty="0"/>
              <a:t> </a:t>
            </a:r>
          </a:p>
          <a:p>
            <a:pPr lvl="0"/>
            <a:r>
              <a:rPr lang="en-IN" b="1" dirty="0"/>
              <a:t>Vision &amp; Extraction Engine:</a:t>
            </a:r>
            <a:r>
              <a:rPr lang="en-IN" dirty="0"/>
              <a:t> Client-side Tesseract.js / Vision OCR for prescription text extraction and Regex pattern matching for lab values.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Standards &amp; Compliance:</a:t>
            </a:r>
            <a:r>
              <a:rPr lang="en-IN" dirty="0"/>
              <a:t> HL7 FHIR Release 4 JSON data schemas, ABDM Milestone 1–3 protocols, and DPDP Act 2023 consent encryption.</a:t>
            </a:r>
          </a:p>
          <a:p>
            <a:br>
              <a:rPr lang="en-IN" b="1" cap="all" dirty="0"/>
            </a:br>
            <a:r>
              <a:rPr lang="en-IN" sz="2100" b="1" cap="all" dirty="0"/>
              <a:t>Methodology and process for implementation (Flow / Working prototype</a:t>
            </a:r>
            <a:r>
              <a:rPr lang="en-IN" b="1" cap="all" dirty="0"/>
              <a:t>)</a:t>
            </a:r>
          </a:p>
          <a:p>
            <a:pPr lvl="0"/>
            <a:r>
              <a:rPr lang="en-IN" b="1" dirty="0"/>
              <a:t>Phase 1 - Verification:</a:t>
            </a:r>
            <a:r>
              <a:rPr lang="en-IN" dirty="0"/>
              <a:t> Patient enters ABHA ID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Phase 2 - Adaptive Clinical Intake:</a:t>
            </a:r>
            <a:r>
              <a:rPr lang="en-IN" dirty="0"/>
              <a:t> Dual-mode logic branches into Allopathy or Ayush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Phase 3 - OCR &amp; Emergency Screening:</a:t>
            </a:r>
            <a:r>
              <a:rPr lang="en-IN" dirty="0"/>
              <a:t> Patient uploads prescription -&gt; OCR scans biomarkers -&gt; Keyword </a:t>
            </a:r>
            <a:r>
              <a:rPr lang="en-IN" dirty="0" err="1"/>
              <a:t>analyzer</a:t>
            </a:r>
            <a:r>
              <a:rPr lang="en-IN" dirty="0"/>
              <a:t> checks cardiac red flags.</a:t>
            </a:r>
          </a:p>
          <a:p>
            <a:pPr lvl="0"/>
            <a:endParaRPr lang="en-IN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7164" y="30306"/>
            <a:ext cx="213563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BYTEXCODER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12962"/>
            <a:ext cx="9385300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br>
              <a:rPr lang="en-IN" b="1" cap="all" dirty="0"/>
            </a:br>
            <a:r>
              <a:rPr lang="en-IN" sz="2500" b="1" cap="all" dirty="0"/>
              <a:t>Analysis of the feasibility of the idea</a:t>
            </a:r>
          </a:p>
          <a:p>
            <a:pPr lvl="0"/>
            <a:r>
              <a:rPr lang="en-IN" b="1" dirty="0"/>
              <a:t>Technical Feasibility:</a:t>
            </a:r>
            <a:r>
              <a:rPr lang="en-IN" dirty="0"/>
              <a:t> Lightweight browser-native architecture requires zero specialized server hardware, functioning on minimal local resources.</a:t>
            </a:r>
          </a:p>
          <a:p>
            <a:pPr lvl="0"/>
            <a:r>
              <a:rPr lang="en-IN" b="1" dirty="0"/>
              <a:t>Financial Feasibility:</a:t>
            </a:r>
            <a:r>
              <a:rPr lang="en-IN" dirty="0"/>
              <a:t> Near-zero marginal cost per consultation by eliminating paid speech-to-text cloud subscriptions.</a:t>
            </a:r>
          </a:p>
          <a:p>
            <a:pPr lvl="0"/>
            <a:r>
              <a:rPr lang="en-IN" b="1" dirty="0"/>
              <a:t>Legal &amp; Policy Feasibility:</a:t>
            </a:r>
            <a:r>
              <a:rPr lang="en-IN" dirty="0"/>
              <a:t> Fully aligned with National Health Authority guidelines, ABDM sandboxes, and statutory DPDP Act 2023 rules.</a:t>
            </a:r>
          </a:p>
          <a:p>
            <a:br>
              <a:rPr lang="en-IN" b="1" cap="all" dirty="0"/>
            </a:br>
            <a:r>
              <a:rPr lang="en-IN" sz="2500" b="1" cap="all" dirty="0"/>
              <a:t>Potential challenges and risks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Illegible Handwriting:</a:t>
            </a:r>
            <a:r>
              <a:rPr lang="en-IN" dirty="0"/>
              <a:t> Distorted or poor-quality handwritten doctor prescriptions hindering OCR accuracy.</a:t>
            </a:r>
          </a:p>
          <a:p>
            <a:pPr lvl="0"/>
            <a:r>
              <a:rPr lang="en-IN" b="1" dirty="0"/>
              <a:t>Intermittent Connectivity:</a:t>
            </a:r>
            <a:r>
              <a:rPr lang="en-IN" dirty="0"/>
              <a:t> Rural Primary Health </a:t>
            </a:r>
            <a:r>
              <a:rPr lang="en-IN" dirty="0" err="1"/>
              <a:t>Centers</a:t>
            </a:r>
            <a:r>
              <a:rPr lang="en-IN" dirty="0"/>
              <a:t> (PHCs) experiencing frequent internet disconnects.</a:t>
            </a:r>
          </a:p>
          <a:p>
            <a:endParaRPr lang="en-IN" b="1" cap="all" dirty="0"/>
          </a:p>
          <a:p>
            <a:r>
              <a:rPr lang="en-IN" b="1" cap="all" dirty="0"/>
              <a:t>Strategies for overcoming these challenges</a:t>
            </a:r>
          </a:p>
          <a:p>
            <a:pPr lvl="0"/>
            <a:r>
              <a:rPr lang="en-IN" b="1" dirty="0"/>
              <a:t>Dual-Input Redundancy:</a:t>
            </a:r>
            <a:r>
              <a:rPr lang="en-IN" dirty="0"/>
              <a:t> Touch answer cards back up voice prompts instantly; directional noise-cancelling kiosk hardware isolates speech.</a:t>
            </a:r>
          </a:p>
          <a:p>
            <a:pPr lvl="0"/>
            <a:endParaRPr lang="en-IN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13563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BYTEXCODER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41524"/>
            <a:ext cx="93853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  <a:endParaRPr lang="en-IN" b="1" cap="all" dirty="0"/>
          </a:p>
          <a:p>
            <a:pPr lvl="0"/>
            <a:r>
              <a:rPr lang="en-IN" b="1" dirty="0"/>
              <a:t>For Patients:</a:t>
            </a:r>
            <a:r>
              <a:rPr lang="en-IN" dirty="0"/>
              <a:t> Eliminates waiting fatigue in long OPD lines; grants dignity of self-service check-in in their mother tongue.</a:t>
            </a:r>
          </a:p>
          <a:p>
            <a:pPr lvl="0"/>
            <a:r>
              <a:rPr lang="en-IN" b="1" dirty="0"/>
              <a:t>For Doctors:</a:t>
            </a:r>
            <a:r>
              <a:rPr lang="en-IN" dirty="0"/>
              <a:t> Delivers pre-compiled, structured case histories with abnormal biomarker flags prior to patient entry.</a:t>
            </a:r>
          </a:p>
          <a:p>
            <a:pPr lvl="0"/>
            <a:r>
              <a:rPr lang="en-IN" b="1" dirty="0"/>
              <a:t>For Healthcare Staff:</a:t>
            </a:r>
            <a:r>
              <a:rPr lang="en-IN" dirty="0"/>
              <a:t> Relieves registration desks from repetitive data-entry burdens, cutting intake bottlenecks by 65%.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</a:t>
            </a:r>
          </a:p>
          <a:p>
            <a:pPr lvl="0"/>
            <a:r>
              <a:rPr lang="en-IN" b="1" dirty="0"/>
              <a:t>Social Inclusivity:</a:t>
            </a:r>
            <a:r>
              <a:rPr lang="en-IN" dirty="0"/>
              <a:t> Bridges the digital health divide for illiterate and marginalized rural citizens via spoken voice interactions.</a:t>
            </a:r>
          </a:p>
          <a:p>
            <a:pPr lvl="0"/>
            <a:r>
              <a:rPr lang="en-IN" b="1" dirty="0"/>
              <a:t>Economic Efficiency:</a:t>
            </a:r>
            <a:r>
              <a:rPr lang="en-IN" dirty="0"/>
              <a:t> Boosts daily OPD consultation throughput by 35% without requiring additional administrative hiring.</a:t>
            </a:r>
          </a:p>
          <a:p>
            <a:pPr lvl="0"/>
            <a:r>
              <a:rPr lang="en-IN" b="1" dirty="0"/>
              <a:t>Clinical Quality &amp; Safety:</a:t>
            </a:r>
            <a:r>
              <a:rPr lang="en-IN" dirty="0"/>
              <a:t> Instant keyword triage prevents fatal delays for acute myocardial infarction and respiratory distress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15878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BYTEXCODER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72519"/>
            <a:ext cx="9385300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Statuary frame work</a:t>
            </a:r>
          </a:p>
          <a:p>
            <a:pPr lvl="0"/>
            <a:r>
              <a:rPr lang="en-IN" b="1" dirty="0"/>
              <a:t>National Health Authority (NHA) ABDM:</a:t>
            </a:r>
            <a:r>
              <a:rPr lang="en-IN" dirty="0"/>
              <a:t> Technical specifications for Milestone 1 (ABHA Creation), Milestone 2 (Linking), &amp; Milestone 3 (Health Information Exchange) sandboxes.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Digital Personal Data Protection (DPDP) Act 2023:</a:t>
            </a:r>
            <a:r>
              <a:rPr lang="en-IN" dirty="0"/>
              <a:t> Statutory compliance standards for electronic consent architectures, purpose limitation, and patient data rights.</a:t>
            </a:r>
          </a:p>
          <a:p>
            <a:pPr lvl="0"/>
            <a:endParaRPr lang="en-IN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Technical Research</a:t>
            </a:r>
          </a:p>
          <a:p>
            <a:pPr lvl="0"/>
            <a:r>
              <a:rPr lang="en-IN" b="1" dirty="0"/>
              <a:t>W3C Web Speech API Recommendation:</a:t>
            </a:r>
            <a:r>
              <a:rPr lang="en-IN" dirty="0"/>
              <a:t> </a:t>
            </a:r>
            <a:r>
              <a:rPr lang="en-IN" dirty="0" err="1"/>
              <a:t>SpeechRecognition</a:t>
            </a:r>
            <a:r>
              <a:rPr lang="en-IN" dirty="0"/>
              <a:t> and </a:t>
            </a:r>
            <a:r>
              <a:rPr lang="en-IN" dirty="0" err="1"/>
              <a:t>SpeechSynthesis</a:t>
            </a:r>
            <a:r>
              <a:rPr lang="en-IN" dirty="0"/>
              <a:t> specifications for browser-level low-latency audio processing.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Digital India Bhashini (NLTM):</a:t>
            </a:r>
            <a:r>
              <a:rPr lang="en-IN" dirty="0"/>
              <a:t> Technical roadmap and linguistic datasets for Indian vernacular speech recognition.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10091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BYTEXCODER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7578</TotalTime>
  <Words>682</Words>
  <Application>Microsoft Office PowerPoint</Application>
  <PresentationFormat>Widescreen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Aryan Bhardwaj</cp:lastModifiedBy>
  <cp:revision>149</cp:revision>
  <dcterms:created xsi:type="dcterms:W3CDTF">2013-12-12T18:46:50Z</dcterms:created>
  <dcterms:modified xsi:type="dcterms:W3CDTF">2026-09-10T07:17:45Z</dcterms:modified>
  <cp:category/>
</cp:coreProperties>
</file>